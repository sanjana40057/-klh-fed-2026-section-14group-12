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12"/>
  </p:notesMasterIdLst>
  <p:sldIdLst>
    <p:sldId id="256" r:id="rId2"/>
    <p:sldId id="270" r:id="rId3"/>
    <p:sldId id="265" r:id="rId4"/>
    <p:sldId id="259" r:id="rId5"/>
    <p:sldId id="266" r:id="rId6"/>
    <p:sldId id="268" r:id="rId7"/>
    <p:sldId id="261" r:id="rId8"/>
    <p:sldId id="267" r:id="rId9"/>
    <p:sldId id="26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2198-888A-46EC-B3C3-89EF55E2D9B2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566AB-37DC-48BA-BC81-0E7B2C4A2F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92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062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083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019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812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4417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907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9732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4917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3987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1577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02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243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56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815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4534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54792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02514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533161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8936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7125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578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9705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6223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1182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2959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1569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274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0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3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60BE6AD-AD7D-8EB0-775D-6DB76CA410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24138" y="2268748"/>
            <a:ext cx="6943724" cy="395425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4100" b="1" dirty="0"/>
              <a:t>Design and Simulation of a Smart Water Tank Overflow Protection and Pump Control System</a:t>
            </a:r>
            <a:br>
              <a:rPr lang="en-IN" sz="4100" b="1" dirty="0"/>
            </a:br>
            <a:endParaRPr lang="en-US" sz="4100" b="1" dirty="0"/>
          </a:p>
        </p:txBody>
      </p:sp>
    </p:spTree>
    <p:extLst>
      <p:ext uri="{BB962C8B-B14F-4D97-AF65-F5344CB8AC3E}">
        <p14:creationId xmlns:p14="http://schemas.microsoft.com/office/powerpoint/2010/main" val="2467186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3743-8AD9-54A3-1A2A-78AECEE9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892E1-4079-FF2D-0238-2525261A61D7}"/>
              </a:ext>
            </a:extLst>
          </p:cNvPr>
          <p:cNvSpPr txBox="1"/>
          <p:nvPr/>
        </p:nvSpPr>
        <p:spPr>
          <a:xfrm>
            <a:off x="3875713" y="2692677"/>
            <a:ext cx="5780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Presented by:</a:t>
            </a:r>
            <a:endParaRPr lang="en-IN" sz="3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54255-221F-0942-FC16-04E4A2306667}"/>
              </a:ext>
            </a:extLst>
          </p:cNvPr>
          <p:cNvSpPr txBox="1"/>
          <p:nvPr/>
        </p:nvSpPr>
        <p:spPr>
          <a:xfrm>
            <a:off x="2927757" y="3429000"/>
            <a:ext cx="67279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Sai Tanush – 2620040075</a:t>
            </a:r>
          </a:p>
          <a:p>
            <a:r>
              <a:rPr lang="en-US" sz="2800" dirty="0"/>
              <a:t>Sai Varshith – 2620040129</a:t>
            </a:r>
          </a:p>
          <a:p>
            <a:r>
              <a:rPr lang="en-US" sz="2800" dirty="0"/>
              <a:t>Sanjana - 2620040057</a:t>
            </a:r>
          </a:p>
          <a:p>
            <a:r>
              <a:rPr lang="en-US" sz="2800" dirty="0"/>
              <a:t>Mahima – 2620040049</a:t>
            </a:r>
          </a:p>
          <a:p>
            <a:r>
              <a:rPr lang="en-US" sz="2800" dirty="0"/>
              <a:t>Eshwar - 2620040101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4932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3902-CA05-36F1-9B0F-5B92809D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81374"/>
            <a:ext cx="10741152" cy="1132258"/>
          </a:xfrm>
        </p:spPr>
        <p:txBody>
          <a:bodyPr/>
          <a:lstStyle/>
          <a:p>
            <a:r>
              <a:rPr lang="en-US" dirty="0"/>
              <a:t>Introduction And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C26DB-4451-F94A-26BA-2DD8C35AF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424" y="1213632"/>
            <a:ext cx="10780776" cy="4925000"/>
          </a:xfrm>
        </p:spPr>
        <p:txBody>
          <a:bodyPr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sz="2800" dirty="0"/>
              <a:t>Design a digital logic circuit to control a water pump using a 2:1 multiplexer and basic logic gates.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sz="2800" dirty="0"/>
              <a:t>Provide Automatic and Manual operating modes through a mode selection switch.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sz="2800" dirty="0"/>
              <a:t>Prevent tank overflow by monitoring the high-level water sensor.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sz="2800" dirty="0"/>
              <a:t>Protect the pump from dry running using a water-source availability sensor.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sz="2800" dirty="0"/>
              <a:t>Generate an alarm when the tank is full or the water source is empty.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sz="2800" dirty="0"/>
              <a:t>Verify the circuit operation through a truth table and Logisim simulation.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2987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23F5-AC4B-4CA2-2723-A86ACA60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used: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EDE50A-1314-31D1-BA3A-EEE2CC64F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85313"/>
              </p:ext>
            </p:extLst>
          </p:nvPr>
        </p:nvGraphicFramePr>
        <p:xfrm>
          <a:off x="838200" y="1593907"/>
          <a:ext cx="10515600" cy="4146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70863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875198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53661734"/>
                    </a:ext>
                  </a:extLst>
                </a:gridCol>
              </a:tblGrid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453108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pins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H, S, M,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72926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2:1 Multiplexer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Selects Auto or Manual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333450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Produces H′ and W′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68248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AND gate (2-input)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Pump control and safety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032493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 gate (2-input)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Alarm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66289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 pin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Pump (1 = ON, 0 = OFF) &amp; Alarm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118892"/>
                  </a:ext>
                </a:extLst>
              </a:tr>
              <a:tr h="518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Logisim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Design and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772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22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571B-00A8-5CEB-3614-BEED07FE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and output definitions: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6DDF94-C47E-1168-65B4-FC35B2990F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2160096"/>
              </p:ext>
            </p:extLst>
          </p:nvPr>
        </p:nvGraphicFramePr>
        <p:xfrm>
          <a:off x="864394" y="1853076"/>
          <a:ext cx="10515600" cy="3548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573327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44573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74432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50406546"/>
                    </a:ext>
                  </a:extLst>
                </a:gridCol>
              </a:tblGrid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 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565785"/>
                  </a:ext>
                </a:extLst>
              </a:tr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High-level water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Tank not 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Tank 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514579"/>
                  </a:ext>
                </a:extLst>
              </a:tr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Pump OFF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Pump ON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407072"/>
                  </a:ext>
                </a:extLst>
              </a:tr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 select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837266"/>
                  </a:ext>
                </a:extLst>
              </a:tr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 source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 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 has water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198009"/>
                  </a:ext>
                </a:extLst>
              </a:tr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Pump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Pump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Pump 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469607"/>
                  </a:ext>
                </a:extLst>
              </a:tr>
              <a:tr h="506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Alarm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Alarm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Alarm 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26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22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611E-364B-84A7-D416-D9D2AE6D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diagram: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DDD3C9-B6C2-94A1-BEEA-D9C901E53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1670989"/>
            <a:ext cx="10780712" cy="49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7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A2684-FA11-9EA4-B38C-7085EFA87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4137342"/>
              </p:ext>
            </p:extLst>
          </p:nvPr>
        </p:nvGraphicFramePr>
        <p:xfrm>
          <a:off x="1289957" y="1043872"/>
          <a:ext cx="5772151" cy="556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6425">
                  <a:extLst>
                    <a:ext uri="{9D8B030D-6E8A-4147-A177-3AD203B41FA5}">
                      <a16:colId xmlns:a16="http://schemas.microsoft.com/office/drawing/2014/main" val="2265966697"/>
                    </a:ext>
                  </a:extLst>
                </a:gridCol>
                <a:gridCol w="965221">
                  <a:extLst>
                    <a:ext uri="{9D8B030D-6E8A-4147-A177-3AD203B41FA5}">
                      <a16:colId xmlns:a16="http://schemas.microsoft.com/office/drawing/2014/main" val="1431845846"/>
                    </a:ext>
                  </a:extLst>
                </a:gridCol>
                <a:gridCol w="965221">
                  <a:extLst>
                    <a:ext uri="{9D8B030D-6E8A-4147-A177-3AD203B41FA5}">
                      <a16:colId xmlns:a16="http://schemas.microsoft.com/office/drawing/2014/main" val="1748960096"/>
                    </a:ext>
                  </a:extLst>
                </a:gridCol>
                <a:gridCol w="954842">
                  <a:extLst>
                    <a:ext uri="{9D8B030D-6E8A-4147-A177-3AD203B41FA5}">
                      <a16:colId xmlns:a16="http://schemas.microsoft.com/office/drawing/2014/main" val="3096073928"/>
                    </a:ext>
                  </a:extLst>
                </a:gridCol>
                <a:gridCol w="965221">
                  <a:extLst>
                    <a:ext uri="{9D8B030D-6E8A-4147-A177-3AD203B41FA5}">
                      <a16:colId xmlns:a16="http://schemas.microsoft.com/office/drawing/2014/main" val="2330313780"/>
                    </a:ext>
                  </a:extLst>
                </a:gridCol>
                <a:gridCol w="965221">
                  <a:extLst>
                    <a:ext uri="{9D8B030D-6E8A-4147-A177-3AD203B41FA5}">
                      <a16:colId xmlns:a16="http://schemas.microsoft.com/office/drawing/2014/main" val="3845574576"/>
                    </a:ext>
                  </a:extLst>
                </a:gridCol>
              </a:tblGrid>
              <a:tr h="812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H</a:t>
                      </a:r>
                      <a:endParaRPr lang="en-IN" sz="1800" b="1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</a:t>
                      </a:r>
                      <a:endParaRPr lang="en-IN" sz="1800" b="1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</a:t>
                      </a:r>
                      <a:endParaRPr lang="en-IN" sz="1800" b="1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 (Pump)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 (Alarm)</a:t>
                      </a:r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4261125422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2531501183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843079409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4047860812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3052209305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427361700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1910822674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1538529338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3037088722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3743436865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3313511222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1191307691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1325652774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57996130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4107554529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2863011170"/>
                  </a:ext>
                </a:extLst>
              </a:tr>
              <a:tr h="296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  <a:endParaRPr lang="en-IN" sz="1400" dirty="0"/>
                    </a:p>
                  </a:txBody>
                  <a:tcPr marL="72418" marR="72418" marT="36209" marB="36209" anchor="ctr"/>
                </a:tc>
                <a:extLst>
                  <a:ext uri="{0D108BD9-81ED-4DB2-BD59-A6C34878D82A}">
                    <a16:rowId xmlns:a16="http://schemas.microsoft.com/office/drawing/2014/main" val="36541581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592A18-D505-1B9A-EADC-9D9EE0633F20}"/>
              </a:ext>
            </a:extLst>
          </p:cNvPr>
          <p:cNvSpPr txBox="1"/>
          <p:nvPr/>
        </p:nvSpPr>
        <p:spPr>
          <a:xfrm>
            <a:off x="163285" y="250368"/>
            <a:ext cx="6123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TRUTH table:</a:t>
            </a:r>
            <a:endParaRPr lang="en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701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A6A6-4C15-87B0-F688-039EF769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1463-3558-8803-FECB-D573A047C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44" y="1658678"/>
            <a:ext cx="5254099" cy="5085021"/>
          </a:xfrm>
        </p:spPr>
        <p:txBody>
          <a:bodyPr>
            <a:normAutofit/>
          </a:bodyPr>
          <a:lstStyle/>
          <a:p>
            <a:r>
              <a:rPr lang="en-IN" b="1" dirty="0"/>
              <a:t>Advantages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Prevents tank overflow and saves water and electricity.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Protects the motor from dry running.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Offers both automatic and manual control.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Safety conditions cannot be bypassed in manual mode.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Low cost and simple, with no microcontroller needed.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Easy to build in hardware with standard ICs (74157 MUX, 7408 AND, 7432 OR, 7404 NOT).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5B80-F08D-2BB6-2F94-BB18B2D042D4}"/>
              </a:ext>
            </a:extLst>
          </p:cNvPr>
          <p:cNvSpPr txBox="1"/>
          <p:nvPr/>
        </p:nvSpPr>
        <p:spPr>
          <a:xfrm>
            <a:off x="6025243" y="1556496"/>
            <a:ext cx="609463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IN" b="1" dirty="0"/>
              <a:t>Applications</a:t>
            </a: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Domestic overhead and underground tanks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Apartments and housing societies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Hostels, schools and hospitals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Industrial storage tanks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Agriculture and irrigation systems</a:t>
            </a:r>
          </a:p>
        </p:txBody>
      </p:sp>
    </p:spTree>
    <p:extLst>
      <p:ext uri="{BB962C8B-B14F-4D97-AF65-F5344CB8AC3E}">
        <p14:creationId xmlns:p14="http://schemas.microsoft.com/office/powerpoint/2010/main" val="366365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DB347EA-DEAC-1B9B-7AAF-A087BFAE215C}"/>
              </a:ext>
            </a:extLst>
          </p:cNvPr>
          <p:cNvSpPr/>
          <p:nvPr/>
        </p:nvSpPr>
        <p:spPr>
          <a:xfrm>
            <a:off x="163284" y="1485900"/>
            <a:ext cx="4147457" cy="3886200"/>
          </a:xfrm>
          <a:prstGeom prst="ellips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8B8DE-768B-EB71-0432-87D63C2C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11" y="703789"/>
            <a:ext cx="4494821" cy="3149227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C5A4D-B4F8-4F65-C5C3-F789A743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058" y="630821"/>
            <a:ext cx="7231310" cy="5596357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 smart water tank control system was designed and simulated using a 2:1 multiplexer and basic logic gates.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multiplexer switches between Automatic and Manual modes using the mode input 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pump runs only when the tank is not full and the source has water.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alarm sounds when the tank is full or the source is empty.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Logisim simulation matched the truth table, confirming correct operation.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Future scope:</a:t>
            </a:r>
            <a:r>
              <a:rPr lang="en-IN" sz="2400" dirty="0"/>
              <a:t> low-level sensor with hysteresis using a flip-flop, IoT monitoring, and GSM or mobile alerts.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3147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60DE-ED30-7D04-54A7-E54D6CA5D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59" y="630454"/>
            <a:ext cx="10741152" cy="3301465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3F199F-F69C-584B-9F83-565E52533997}"/>
              </a:ext>
            </a:extLst>
          </p:cNvPr>
          <p:cNvSpPr/>
          <p:nvPr/>
        </p:nvSpPr>
        <p:spPr>
          <a:xfrm>
            <a:off x="0" y="0"/>
            <a:ext cx="12192000" cy="2281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E7204B-0850-A945-023B-B31DA8DB0159}"/>
              </a:ext>
            </a:extLst>
          </p:cNvPr>
          <p:cNvSpPr/>
          <p:nvPr/>
        </p:nvSpPr>
        <p:spPr>
          <a:xfrm>
            <a:off x="0" y="4576813"/>
            <a:ext cx="12192000" cy="2281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14016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146</TotalTime>
  <Words>548</Words>
  <Application>Microsoft Office PowerPoint</Application>
  <PresentationFormat>Widescreen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Felix Titling</vt:lpstr>
      <vt:lpstr>Goudy Old Style</vt:lpstr>
      <vt:lpstr>Archway</vt:lpstr>
      <vt:lpstr>PowerPoint Presentation</vt:lpstr>
      <vt:lpstr>PowerPoint Presentation</vt:lpstr>
      <vt:lpstr>Introduction And objectives</vt:lpstr>
      <vt:lpstr>COMPONENTS used:</vt:lpstr>
      <vt:lpstr>Input and output definitions:</vt:lpstr>
      <vt:lpstr>Logic diagram:</vt:lpstr>
      <vt:lpstr>PowerPoint Presentation</vt:lpstr>
      <vt:lpstr>Advantages and 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Tanush Vellanki</dc:creator>
  <cp:lastModifiedBy>Sai Tanush Vellanki</cp:lastModifiedBy>
  <cp:revision>3</cp:revision>
  <dcterms:created xsi:type="dcterms:W3CDTF">2026-10-13T07:11:15Z</dcterms:created>
  <dcterms:modified xsi:type="dcterms:W3CDTF">2026-10-15T03:16:38Z</dcterms:modified>
</cp:coreProperties>
</file>